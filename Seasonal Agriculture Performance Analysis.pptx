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5332" autoAdjust="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7" name="Google Shape;2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5878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2946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010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9875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783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9199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44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6312871" y="4141999"/>
            <a:ext cx="42207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740309" y="1382809"/>
            <a:ext cx="1229700" cy="10599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755031" y="1194620"/>
            <a:ext cx="1666200" cy="14364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3804994" y="5233183"/>
            <a:ext cx="718200" cy="619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1837838" y="1101306"/>
            <a:ext cx="651600" cy="5616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2"/>
          <p:cNvSpPr>
            <a:spLocks noGrp="1"/>
          </p:cNvSpPr>
          <p:nvPr>
            <p:ph type="pic" idx="2"/>
          </p:nvPr>
        </p:nvSpPr>
        <p:spPr>
          <a:xfrm>
            <a:off x="1571515" y="1914044"/>
            <a:ext cx="3993600" cy="36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6312871" y="2050552"/>
            <a:ext cx="4998600" cy="17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marL="1371600" lvl="2" indent="-30988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marL="1828800" lvl="3" indent="-30988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marL="2286000" lvl="4" indent="-309879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692791" y="1699889"/>
            <a:ext cx="319800" cy="31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354457" y="5897738"/>
            <a:ext cx="180000" cy="1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" name="Google Shape;86;p3"/>
          <p:cNvSpPr>
            <a:spLocks noGrp="1"/>
          </p:cNvSpPr>
          <p:nvPr>
            <p:ph type="pic" idx="2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sz="4800" b="1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7362825" y="443263"/>
            <a:ext cx="362100" cy="362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1007246" y="5605994"/>
            <a:ext cx="654300" cy="65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683791" y="6132439"/>
            <a:ext cx="251100" cy="25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4"/>
          <p:cNvSpPr>
            <a:spLocks noGrp="1"/>
          </p:cNvSpPr>
          <p:nvPr>
            <p:ph type="pic" idx="2"/>
          </p:nvPr>
        </p:nvSpPr>
        <p:spPr>
          <a:xfrm>
            <a:off x="5733416" y="624239"/>
            <a:ext cx="5855700" cy="56316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marL="91440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sz="4800" b="1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>
            <a:spLocks noGrp="1"/>
          </p:cNvSpPr>
          <p:nvPr>
            <p:ph type="pic" idx="2"/>
          </p:nvPr>
        </p:nvSpPr>
        <p:spPr>
          <a:xfrm>
            <a:off x="5353508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5"/>
          <p:cNvSpPr>
            <a:spLocks noGrp="1"/>
          </p:cNvSpPr>
          <p:nvPr>
            <p:ph type="pic" idx="3"/>
          </p:nvPr>
        </p:nvSpPr>
        <p:spPr>
          <a:xfrm>
            <a:off x="3115921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5"/>
          <p:cNvSpPr>
            <a:spLocks noGrp="1"/>
          </p:cNvSpPr>
          <p:nvPr>
            <p:ph type="pic" idx="4"/>
          </p:nvPr>
        </p:nvSpPr>
        <p:spPr>
          <a:xfrm>
            <a:off x="7602465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5"/>
          <p:cNvSpPr>
            <a:spLocks noGrp="1"/>
          </p:cNvSpPr>
          <p:nvPr>
            <p:ph type="pic" idx="5"/>
          </p:nvPr>
        </p:nvSpPr>
        <p:spPr>
          <a:xfrm>
            <a:off x="9840051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432000" y="647700"/>
            <a:ext cx="113400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46669" y="3467555"/>
            <a:ext cx="458400" cy="3951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113337" y="2394722"/>
            <a:ext cx="358500" cy="309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882649" y="2202202"/>
            <a:ext cx="230700" cy="1989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5"/>
          <p:cNvSpPr txBox="1">
            <a:spLocks noGrp="1"/>
          </p:cNvSpPr>
          <p:nvPr>
            <p:ph type="body" idx="1"/>
          </p:nvPr>
        </p:nvSpPr>
        <p:spPr>
          <a:xfrm>
            <a:off x="546668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5" name="Google Shape;105;p5"/>
          <p:cNvSpPr txBox="1">
            <a:spLocks noGrp="1"/>
          </p:cNvSpPr>
          <p:nvPr>
            <p:ph type="body" idx="6"/>
          </p:nvPr>
        </p:nvSpPr>
        <p:spPr>
          <a:xfrm>
            <a:off x="556692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body" idx="7"/>
          </p:nvPr>
        </p:nvSpPr>
        <p:spPr>
          <a:xfrm>
            <a:off x="2789482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7" name="Google Shape;107;p5"/>
          <p:cNvSpPr txBox="1">
            <a:spLocks noGrp="1"/>
          </p:cNvSpPr>
          <p:nvPr>
            <p:ph type="body" idx="8"/>
          </p:nvPr>
        </p:nvSpPr>
        <p:spPr>
          <a:xfrm>
            <a:off x="2789483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body" idx="9"/>
          </p:nvPr>
        </p:nvSpPr>
        <p:spPr>
          <a:xfrm>
            <a:off x="5032296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3"/>
          </p:nvPr>
        </p:nvSpPr>
        <p:spPr>
          <a:xfrm>
            <a:off x="5029201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4"/>
          </p:nvPr>
        </p:nvSpPr>
        <p:spPr>
          <a:xfrm>
            <a:off x="7275110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15"/>
          </p:nvPr>
        </p:nvSpPr>
        <p:spPr>
          <a:xfrm>
            <a:off x="7275111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6"/>
          </p:nvPr>
        </p:nvSpPr>
        <p:spPr>
          <a:xfrm>
            <a:off x="9517923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3" name="Google Shape;113;p5"/>
          <p:cNvSpPr txBox="1">
            <a:spLocks noGrp="1"/>
          </p:cNvSpPr>
          <p:nvPr>
            <p:ph type="body" idx="17"/>
          </p:nvPr>
        </p:nvSpPr>
        <p:spPr>
          <a:xfrm>
            <a:off x="9517923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>
            <a:spLocks noGrp="1"/>
          </p:cNvSpPr>
          <p:nvPr>
            <p:ph type="pic" idx="18"/>
          </p:nvPr>
        </p:nvSpPr>
        <p:spPr>
          <a:xfrm>
            <a:off x="878337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6"/>
          <p:cNvGrpSpPr/>
          <p:nvPr/>
        </p:nvGrpSpPr>
        <p:grpSpPr>
          <a:xfrm>
            <a:off x="0" y="-8467"/>
            <a:ext cx="12192133" cy="6866580"/>
            <a:chOff x="0" y="-8467"/>
            <a:chExt cx="12192133" cy="6866580"/>
          </a:xfrm>
        </p:grpSpPr>
        <p:sp>
          <p:nvSpPr>
            <p:cNvPr id="117" name="Google Shape;117;p6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0"/>
              </a:schemeClr>
            </a:solidFill>
            <a:ln>
              <a:noFill/>
            </a:ln>
          </p:spPr>
        </p:sp>
        <p:cxnSp>
          <p:nvCxnSpPr>
            <p:cNvPr id="118" name="Google Shape;118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6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0" name="Google Shape;120;p6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</p:sp>
        <p:sp>
          <p:nvSpPr>
            <p:cNvPr id="121" name="Google Shape;121;p6"/>
            <p:cNvSpPr/>
            <p:nvPr/>
          </p:nvSpPr>
          <p:spPr>
            <a:xfrm>
              <a:off x="9603442" y="-8467"/>
              <a:ext cx="258617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22" name="Google Shape;122;p6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9334500" y="-8467"/>
              <a:ext cx="2850868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0"/>
              </a:srgbClr>
            </a:solidFill>
            <a:ln>
              <a:noFill/>
            </a:ln>
          </p:spPr>
        </p:sp>
        <p:sp>
          <p:nvSpPr>
            <p:cNvPr id="124" name="Google Shape;124;p6"/>
            <p:cNvSpPr/>
            <p:nvPr/>
          </p:nvSpPr>
          <p:spPr>
            <a:xfrm>
              <a:off x="10898730" y="-8467"/>
              <a:ext cx="1290094" cy="6858000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</p:sp>
        <p:sp>
          <p:nvSpPr>
            <p:cNvPr id="125" name="Google Shape;125;p6"/>
            <p:cNvSpPr/>
            <p:nvPr/>
          </p:nvSpPr>
          <p:spPr>
            <a:xfrm>
              <a:off x="10938999" y="-8467"/>
              <a:ext cx="1249825" cy="6858000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26" name="Google Shape;126;p6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6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7000" cy="1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70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 rtl="0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5" name="Google Shape;135;p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8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8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1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1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8" name="Google Shape;148;p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0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00" cy="3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56" name="Google Shape;156;p10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00" cy="3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57" name="Google Shape;157;p1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4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00" cy="55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400" cy="25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4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800" cy="38457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4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8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80" name="Google Shape;180;p1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1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800" cy="3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5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0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541870" y="790378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8893011" y="288655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800" cy="2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800" cy="1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0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800" cy="1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41870" y="790378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893011" y="288655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1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800" cy="1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1"/>
          </p:nvPr>
        </p:nvSpPr>
        <p:spPr>
          <a:xfrm rot="5400000">
            <a:off x="3035202" y="-197411"/>
            <a:ext cx="3880800" cy="8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>
            <a:spLocks noGrp="1"/>
          </p:cNvSpPr>
          <p:nvPr>
            <p:ph type="title"/>
          </p:nvPr>
        </p:nvSpPr>
        <p:spPr>
          <a:xfrm rot="5400000">
            <a:off x="5994316" y="2582999"/>
            <a:ext cx="5251500" cy="1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body" idx="1"/>
          </p:nvPr>
        </p:nvSpPr>
        <p:spPr>
          <a:xfrm rot="5400000">
            <a:off x="1581635" y="-294750"/>
            <a:ext cx="5251500" cy="70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ustom Layout">
  <p:cSld name="1_Custom Layout">
    <p:bg>
      <p:bgPr>
        <a:solidFill>
          <a:schemeClr val="dk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2" descr="Tall office building looking up"/>
          <p:cNvSpPr/>
          <p:nvPr/>
        </p:nvSpPr>
        <p:spPr>
          <a:xfrm>
            <a:off x="3718560" y="1181123"/>
            <a:ext cx="4755000" cy="4495800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22"/>
          <p:cNvSpPr txBox="1">
            <a:spLocks noGrp="1"/>
          </p:cNvSpPr>
          <p:nvPr>
            <p:ph type="body" idx="1"/>
          </p:nvPr>
        </p:nvSpPr>
        <p:spPr>
          <a:xfrm>
            <a:off x="4149139" y="4859469"/>
            <a:ext cx="39249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0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36" name="Google Shape;236;p22"/>
          <p:cNvSpPr txBox="1">
            <a:spLocks noGrp="1"/>
          </p:cNvSpPr>
          <p:nvPr>
            <p:ph type="title"/>
          </p:nvPr>
        </p:nvSpPr>
        <p:spPr>
          <a:xfrm>
            <a:off x="4149139" y="1529685"/>
            <a:ext cx="3924900" cy="16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sz="4800" b="1"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"/>
          <p:cNvGrpSpPr/>
          <p:nvPr/>
        </p:nvGrpSpPr>
        <p:grpSpPr>
          <a:xfrm>
            <a:off x="0" y="-8467"/>
            <a:ext cx="12192133" cy="6866580"/>
            <a:chOff x="0" y="-8467"/>
            <a:chExt cx="12192133" cy="6866580"/>
          </a:xfrm>
        </p:grpSpPr>
        <p:cxnSp>
          <p:nvCxnSpPr>
            <p:cNvPr id="55" name="Google Shape;55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1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7" name="Google Shape;57;p1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</p:sp>
        <p:sp>
          <p:nvSpPr>
            <p:cNvPr id="58" name="Google Shape;58;p1"/>
            <p:cNvSpPr/>
            <p:nvPr/>
          </p:nvSpPr>
          <p:spPr>
            <a:xfrm>
              <a:off x="9603442" y="-8467"/>
              <a:ext cx="258617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59" name="Google Shape;59;p1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9334500" y="-8467"/>
              <a:ext cx="2850868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0"/>
              </a:srgbClr>
            </a:solidFill>
            <a:ln>
              <a:noFill/>
            </a:ln>
          </p:spPr>
        </p:sp>
        <p:sp>
          <p:nvSpPr>
            <p:cNvPr id="61" name="Google Shape;61;p1"/>
            <p:cNvSpPr/>
            <p:nvPr/>
          </p:nvSpPr>
          <p:spPr>
            <a:xfrm>
              <a:off x="10898730" y="-8467"/>
              <a:ext cx="1290094" cy="6858000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</p:sp>
        <p:sp>
          <p:nvSpPr>
            <p:cNvPr id="62" name="Google Shape;62;p1"/>
            <p:cNvSpPr/>
            <p:nvPr/>
          </p:nvSpPr>
          <p:spPr>
            <a:xfrm>
              <a:off x="10938999" y="-8467"/>
              <a:ext cx="1249825" cy="6858000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63" name="Google Shape;63;p1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7" name="Google Shape;67;p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8" name="Google Shape;68;p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9" name="Google Shape;69;p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660396" y="637890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9/3/2026</a:t>
            </a:r>
            <a:endParaRPr sz="1100" b="0" i="0" u="none" strike="noStrike" cap="non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445526" y="6378906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8805338" y="637890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100" b="0" i="0" u="none" strike="noStrike" cap="non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avinchandSahu/Seasonal_Agriculture_Performance_Analysis.gi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body" idx="1"/>
          </p:nvPr>
        </p:nvSpPr>
        <p:spPr>
          <a:xfrm>
            <a:off x="290435" y="3447566"/>
            <a:ext cx="7242793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b="0" dirty="0">
                <a:solidFill>
                  <a:schemeClr val="dk1"/>
                </a:solidFill>
              </a:rPr>
              <a:t>[Student Name </a:t>
            </a:r>
            <a:r>
              <a:rPr lang="en-US" b="0" dirty="0" smtClean="0">
                <a:solidFill>
                  <a:schemeClr val="dk1"/>
                </a:solidFill>
              </a:rPr>
              <a:t>: </a:t>
            </a:r>
            <a:r>
              <a:rPr lang="en-US" b="0" dirty="0" err="1" smtClean="0">
                <a:solidFill>
                  <a:schemeClr val="dk1"/>
                </a:solidFill>
              </a:rPr>
              <a:t>Navinchand</a:t>
            </a:r>
            <a:r>
              <a:rPr lang="en-US" b="0" dirty="0" smtClean="0">
                <a:solidFill>
                  <a:schemeClr val="dk1"/>
                </a:solidFill>
              </a:rPr>
              <a:t> </a:t>
            </a:r>
            <a:r>
              <a:rPr lang="en-US" b="0" dirty="0" err="1" smtClean="0">
                <a:solidFill>
                  <a:schemeClr val="dk1"/>
                </a:solidFill>
              </a:rPr>
              <a:t>Trilokchand</a:t>
            </a:r>
            <a:r>
              <a:rPr lang="en-US" b="0" dirty="0" smtClean="0">
                <a:solidFill>
                  <a:schemeClr val="dk1"/>
                </a:solidFill>
              </a:rPr>
              <a:t> </a:t>
            </a:r>
            <a:r>
              <a:rPr lang="en-US" b="0" dirty="0" err="1" smtClean="0">
                <a:solidFill>
                  <a:schemeClr val="dk1"/>
                </a:solidFill>
              </a:rPr>
              <a:t>Sahu</a:t>
            </a:r>
            <a:endParaRPr b="0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b="0" dirty="0">
                <a:solidFill>
                  <a:schemeClr val="dk1"/>
                </a:solidFill>
              </a:rPr>
              <a:t>College </a:t>
            </a:r>
            <a:r>
              <a:rPr lang="en-US" b="0" dirty="0" smtClean="0">
                <a:solidFill>
                  <a:schemeClr val="dk1"/>
                </a:solidFill>
              </a:rPr>
              <a:t>Name- Rizvi College of Engineering </a:t>
            </a:r>
            <a:r>
              <a:rPr lang="en-US" b="0" dirty="0">
                <a:solidFill>
                  <a:schemeClr val="dk1"/>
                </a:solidFill>
              </a:rPr>
              <a:t>]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290435" y="2571236"/>
            <a:ext cx="10072763" cy="92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ts val="3200"/>
            </a:pPr>
            <a:r>
              <a:rPr lang="en-US" sz="3200" dirty="0"/>
              <a:t>Project Title </a:t>
            </a:r>
            <a:r>
              <a:rPr lang="en-US" sz="3200" dirty="0" smtClean="0"/>
              <a:t>– Seasonal Agriculture Performance Analysis</a:t>
            </a:r>
            <a:endParaRPr sz="3200" dirty="0"/>
          </a:p>
        </p:txBody>
      </p:sp>
      <p:sp>
        <p:nvSpPr>
          <p:cNvPr id="243" name="Google Shape;243;p23"/>
          <p:cNvSpPr txBox="1"/>
          <p:nvPr/>
        </p:nvSpPr>
        <p:spPr>
          <a:xfrm>
            <a:off x="6400800" y="2794001"/>
            <a:ext cx="33123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1" i="0" u="none" strike="noStrike" cap="non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290435" y="4421243"/>
            <a:ext cx="552847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b="1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AICTE STU ID :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IN" b="1" dirty="0"/>
              <a:t>STU69a58ee8e86521772457704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22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body" idx="1"/>
          </p:nvPr>
        </p:nvSpPr>
        <p:spPr>
          <a:xfrm>
            <a:off x="480291" y="1413164"/>
            <a:ext cx="7270011" cy="525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Char char="▪"/>
            </a:pPr>
            <a:r>
              <a:rPr lang="en-US" dirty="0" smtClean="0">
                <a:solidFill>
                  <a:schemeClr val="tx1"/>
                </a:solidFill>
                <a:latin typeface="+mj-lt"/>
              </a:rPr>
              <a:t>Agricultural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activities are influenced by seasonal variations in environmental conditions, farming practices, resource availability and market conditions. 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Char char="▪"/>
            </a:pPr>
            <a:r>
              <a:rPr lang="en-US" dirty="0" smtClean="0">
                <a:solidFill>
                  <a:schemeClr val="tx1"/>
                </a:solidFill>
                <a:latin typeface="+mj-lt"/>
              </a:rPr>
              <a:t>As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a result, agricultural performance may differ from one season to another. 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Char char="▪"/>
            </a:pPr>
            <a:r>
              <a:rPr lang="en-US" dirty="0" smtClean="0">
                <a:solidFill>
                  <a:schemeClr val="tx1"/>
                </a:solidFill>
                <a:latin typeface="+mj-lt"/>
              </a:rPr>
              <a:t>However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, raw agricultural data does not clearly explain how agricultural performance changes across seasons or what patterns can be observed in different seasonal conditions. 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Char char="▪"/>
            </a:pPr>
            <a:r>
              <a:rPr lang="en-US" dirty="0" smtClean="0">
                <a:solidFill>
                  <a:schemeClr val="tx1"/>
                </a:solidFill>
                <a:latin typeface="+mj-lt"/>
              </a:rPr>
              <a:t>The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problem is to analyze the given agricultural dataset and investigate seasonal differences in agricultural performance by identifying meaningful patterns, trends, relationships and variations within the available data.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1" name="Google Shape;251;p24"/>
          <p:cNvSpPr txBox="1">
            <a:spLocks noGrp="1"/>
          </p:cNvSpPr>
          <p:nvPr>
            <p:ph type="title"/>
          </p:nvPr>
        </p:nvSpPr>
        <p:spPr>
          <a:xfrm>
            <a:off x="754602" y="550417"/>
            <a:ext cx="69957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/>
              <a:t>PROBLEM  STATEMENT</a:t>
            </a:r>
            <a:endParaRPr/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5684" y="2930834"/>
            <a:ext cx="2760756" cy="3264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/>
          <p:cNvPicPr preferRelativeResize="0"/>
          <p:nvPr/>
        </p:nvPicPr>
        <p:blipFill rotWithShape="1">
          <a:blip r:embed="rId4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>
            <a:spLocks noGrp="1"/>
          </p:cNvSpPr>
          <p:nvPr>
            <p:ph type="title"/>
          </p:nvPr>
        </p:nvSpPr>
        <p:spPr>
          <a:xfrm>
            <a:off x="549563" y="574246"/>
            <a:ext cx="6276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dirty="0"/>
              <a:t>Project Description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pic>
        <p:nvPicPr>
          <p:cNvPr id="259" name="Google Shape;259;p25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67358" y="1053530"/>
            <a:ext cx="835336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4,000 farm records across 8 states, 8 crops, 3 seasons, and 4 irrigation methods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enriched the dataset; derived KPIs like profit margin and cost/revenue per hectare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EDA on season, crop, state, irrigation, environmental, and risk factors affecting yield and profit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key drivers of profitability (e.g., crop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coice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irrigation method, water-use efficiency)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Delivered actionable insights for improved agricultural planning and decision-making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>
            <a:spLocks noGrp="1"/>
          </p:cNvSpPr>
          <p:nvPr>
            <p:ph type="title"/>
          </p:nvPr>
        </p:nvSpPr>
        <p:spPr>
          <a:xfrm>
            <a:off x="481463" y="414799"/>
            <a:ext cx="100461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 dirty="0"/>
              <a:t>WHO ARE THE END USERS?</a:t>
            </a:r>
            <a:endParaRPr sz="2000" dirty="0"/>
          </a:p>
        </p:txBody>
      </p:sp>
      <p:pic>
        <p:nvPicPr>
          <p:cNvPr id="267" name="Google Shape;26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491" y="1217298"/>
            <a:ext cx="9208654" cy="5377465"/>
          </a:xfrm>
        </p:spPr>
        <p:txBody>
          <a:bodyPr/>
          <a:lstStyle/>
          <a:p>
            <a:pPr algn="just"/>
            <a:r>
              <a:rPr lang="en-US" b="1" dirty="0" smtClean="0">
                <a:solidFill>
                  <a:schemeClr val="tx1"/>
                </a:solidFill>
                <a:latin typeface="+mj-lt"/>
              </a:rPr>
              <a:t>Farmers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– to understand which crops, seasons, and irrigation methods yield the best returns, and to make informed decisions about crop selection and resource use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+mj-lt"/>
              </a:rPr>
              <a:t>Agricultural Extension Officers / Advisors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– to guide farmers with data-backed recommendations on irrigation practices, crop planning, and risk management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+mj-lt"/>
              </a:rPr>
              <a:t>State Agriculture Departments / Policymakers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– to identify underperforming regions, crops, or seasons and design targeted support schemes, subsidies, or interventions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+mj-lt"/>
              </a:rPr>
              <a:t>Agri-Business &amp; Supply Chain Companies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– to plan procurement, pricing, and inventory based on regional and seasonal production/profitability trends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+mj-lt"/>
              </a:rPr>
              <a:t>Banks &amp; Agricultural Insurance Providers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– to assess risk profiles of crops/regions (e.g., disease/pest risk, loss-making patterns) for loan and insurance decisions.</a:t>
            </a:r>
            <a:endParaRPr lang="en-IN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50800" y="3820160"/>
            <a:ext cx="1727200" cy="3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>
            <a:spLocks noGrp="1"/>
          </p:cNvSpPr>
          <p:nvPr>
            <p:ph type="title"/>
          </p:nvPr>
        </p:nvSpPr>
        <p:spPr>
          <a:xfrm>
            <a:off x="660399" y="430567"/>
            <a:ext cx="53064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Technology Used</a:t>
            </a:r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4183" y="1514325"/>
            <a:ext cx="771914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Environment: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/ Google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Format: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CSV (Comma-Separated Values)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8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84" name="Google Shape;284;p28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327" y="364375"/>
            <a:ext cx="6666452" cy="6204065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576088" y="1275371"/>
            <a:ext cx="3700348" cy="770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E1F"/>
                </a:solidFill>
                <a:latin typeface="+mj-lt"/>
                <a:ea typeface="Cambria" pitchFamily="34" charset="-122"/>
                <a:cs typeface="Cambria" pitchFamily="34" charset="-120"/>
              </a:rPr>
              <a:t>Total Profit by Season</a:t>
            </a:r>
            <a:endParaRPr lang="en-US" sz="2500" dirty="0">
              <a:latin typeface="+mj-lt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2423160"/>
            <a:ext cx="3888494" cy="37282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Kharif is the standout season, generating ₹31.8 Cr in profit — more than double Rabi and far ahead of Zaid.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Rabi delivers a solid ₹14.3 Cr profit, positioning it as a dependable second season.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Zaid runs an overall loss of ₹1.5 Cr, the only season with negative net profit in the dataset.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Average yield follows the same order: Kharif (5.64 t/Ha) &gt; Rabi (5.08 t/Ha) &gt; Zaid (4.67 t/Ha).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" name="Text 4"/>
          <p:cNvSpPr/>
          <p:nvPr/>
        </p:nvSpPr>
        <p:spPr>
          <a:xfrm>
            <a:off x="469625" y="2259927"/>
            <a:ext cx="3612848" cy="3368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 err="1" smtClean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Chilli</a:t>
            </a:r>
            <a:r>
              <a:rPr lang="en-US" dirty="0" smtClean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is the most profitable crop overall at ₹30.9 Cr, followed by Sugarcane at ₹24.9 Cr.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Cotton (₹6.3 Cr) and Groundnut (₹1.9 Cr) stay in positive territory but well behind the top two.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Wheat (-₹7.6 Cr), Rice (-₹7.1 Cr) and Maize (-₹4.6 Cr) are net loss-making at the aggregate level.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Pulses is roughly breakeven (-₹0.2 Cr), suggesting cost and price management are the deciding factors.</a:t>
            </a:r>
            <a:endParaRPr lang="en-US" dirty="0">
              <a:latin typeface="+mj-lt"/>
            </a:endParaRPr>
          </a:p>
          <a:p>
            <a:pPr>
              <a:spcAft>
                <a:spcPts val="1200"/>
              </a:spcAft>
              <a:buSzPct val="100000"/>
            </a:pPr>
            <a:endParaRPr lang="en-US" dirty="0">
              <a:latin typeface="+mj-lt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76088" y="1275371"/>
            <a:ext cx="3429000" cy="770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Profit by Season</a:t>
            </a:r>
            <a:endParaRPr lang="en-US" sz="2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655" y="258618"/>
            <a:ext cx="6825672" cy="64063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0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0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230909"/>
            <a:ext cx="6568728" cy="64340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250" y="1500219"/>
            <a:ext cx="334544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E1F"/>
                </a:solidFill>
                <a:latin typeface="+mj-lt"/>
                <a:ea typeface="Cambria" pitchFamily="34" charset="-122"/>
                <a:cs typeface="Cambria" pitchFamily="34" charset="-120"/>
              </a:rPr>
              <a:t>Total Profit by State</a:t>
            </a:r>
            <a:endParaRPr lang="en-US" sz="25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7237" y="2202417"/>
            <a:ext cx="42671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Maharashtra leads all states with ₹6.9 Cr in total profit, the strongest regional performer.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Profit is distributed fairly evenly across the remaining 7 states, each contributing a modest share.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Farm area and production volumes are broadly comparable across states (roughly 3,700–4,000 Ha each), so profit differences trace mainly to crop mix and cost efficiency rather than scale.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No state shows a net loss, indicating regional risk is more diversified than crop-level risk.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7301" y="1369844"/>
            <a:ext cx="455811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Average Water Efficiency by Irrigation Method</a:t>
            </a:r>
            <a:endParaRPr lang="en-IN" sz="2500" dirty="0">
              <a:effectLst/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5628" y="2705164"/>
            <a:ext cx="448356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Tx/>
              <a:buSzPct val="100000"/>
              <a:buFont typeface="Wingdings" panose="05000000000000000000" pitchFamily="2" charset="2"/>
              <a:buChar char="§"/>
            </a:pPr>
            <a:r>
              <a:rPr lang="en-US" dirty="0" err="1" smtClean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Rainfed</a:t>
            </a:r>
            <a:r>
              <a:rPr lang="en-US" dirty="0" smtClean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farming achieves the highest water efficiency at 7.56 </a:t>
            </a:r>
            <a:r>
              <a:rPr lang="en-US" dirty="0" smtClean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tones </a:t>
            </a: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per 1,000 m³, ahead of all managed irrigation methods.</a:t>
            </a:r>
            <a:endParaRPr lang="en-US" dirty="0">
              <a:latin typeface="+mj-lt"/>
            </a:endParaRPr>
          </a:p>
          <a:p>
            <a:pPr marL="285750" indent="-285750">
              <a:spcAft>
                <a:spcPts val="1200"/>
              </a:spcAft>
              <a:buClrTx/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Drip irrigation is close behind at 6.27, while also delivering the highest average yield (6.62 t/Ha) and highest total profit (₹20.1 Cr) of all methods.</a:t>
            </a:r>
            <a:endParaRPr lang="en-US" dirty="0">
              <a:latin typeface="+mj-lt"/>
            </a:endParaRPr>
          </a:p>
          <a:p>
            <a:pPr marL="285750" indent="-285750">
              <a:spcAft>
                <a:spcPts val="1200"/>
              </a:spcAft>
              <a:buClrTx/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Sprinkler (4.67) and Flood (3.44) irrigation are the least water-efficient methods in the dataset.</a:t>
            </a:r>
            <a:endParaRPr lang="en-US" dirty="0">
              <a:latin typeface="+mj-lt"/>
            </a:endParaRPr>
          </a:p>
          <a:p>
            <a:pPr marL="285750" indent="-285750">
              <a:spcAft>
                <a:spcPts val="1200"/>
              </a:spcAft>
              <a:buClrTx/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Flood irrigation uses the most water on average (8,026 m³) yet produces the lowest profit (₹9.6 Cr) — a clear efficiency gap.</a:t>
            </a:r>
            <a:endParaRPr lang="en-US" dirty="0">
              <a:latin typeface="+mj-lt"/>
            </a:endParaRPr>
          </a:p>
          <a:p>
            <a:pPr marL="285750" indent="-285750">
              <a:spcAft>
                <a:spcPts val="1200"/>
              </a:spcAft>
              <a:buClrTx/>
              <a:buSzPct val="100000"/>
              <a:buFont typeface="Wingdings" panose="05000000000000000000" pitchFamily="2" charset="2"/>
              <a:buChar char="§"/>
            </a:pPr>
            <a:endParaRPr lang="en-IN" dirty="0">
              <a:effectLst/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218" y="206109"/>
            <a:ext cx="6501580" cy="64588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274" y="2216059"/>
            <a:ext cx="417483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Sugarcane dramatically </a:t>
            </a:r>
            <a:r>
              <a:rPr lang="en-US" dirty="0" smtClean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out produces 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every other crop, averaging 46.94 </a:t>
            </a:r>
            <a:r>
              <a:rPr lang="en-US" dirty="0" smtClean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tones/hectare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All remaining crops cluster far below this, between roughly 1–3 </a:t>
            </a:r>
            <a:r>
              <a:rPr lang="en-US" dirty="0" smtClean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tones/hectare 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on average.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High yield does not always translate into high profit — Sugarcane's massive yield still trails </a:t>
            </a:r>
            <a:r>
              <a:rPr lang="en-US" dirty="0" err="1" smtClean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Chilli</a:t>
            </a:r>
            <a:r>
              <a:rPr lang="en-US" dirty="0" smtClean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in total profit, reflecting the impact of market price and cost structure.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Yield alone is not a reliable proxy for profitability; it must be read alongside cost and price data.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5957" y="1464317"/>
            <a:ext cx="357424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Average Yield by Crop</a:t>
            </a:r>
            <a:endParaRPr lang="en-IN" sz="2500" dirty="0">
              <a:effectLst/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145" y="168003"/>
            <a:ext cx="6744215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2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405" y="443345"/>
            <a:ext cx="6600825" cy="60285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3296" y="2432005"/>
            <a:ext cx="450114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Kharif</a:t>
            </a: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 shows the widest yield spread and the highest median, consistent with it being the top-performing season.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Rabi's distribution sits slightly lower and narrower, reflecting more moderate but consistent performance.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Zaid has the lowest median yield and a compressed range, reinforcing its position as the weakest season.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 smtClean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Outlier farms with very high yield appear in all three seasons, mostly driven by high-yield crops like Sugarcane.</a:t>
            </a:r>
            <a:endParaRPr lang="en-US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2791" y="1275371"/>
            <a:ext cx="452008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Yield Distribution by Season</a:t>
            </a:r>
            <a:endParaRPr lang="en-IN" sz="25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9293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 dirty="0"/>
              <a:t>RESULTS </a:t>
            </a:r>
            <a:endParaRPr dirty="0"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218" y="295621"/>
            <a:ext cx="6533718" cy="63693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30909" y="2532332"/>
            <a:ext cx="471054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Rainfall and yield show almost no linear relationship in this dataset (correlation r = 0.03).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High-yield outcomes occur across the full range of rainfall levels, not just at high rainfall.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This suggests irrigation and soil/nutrient management have a larger influence on yield than rainfall alone.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Farms should not rely on rainfall levels as a sole predictor of expected yield.</a:t>
            </a:r>
            <a:endParaRPr lang="en-US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634" y="1628433"/>
            <a:ext cx="346434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 smtClean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Rainfall vs Crop Yield</a:t>
            </a:r>
            <a:endParaRPr lang="en-IN" sz="25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449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 dirty="0"/>
              <a:t>RESULTS </a:t>
            </a:r>
            <a:endParaRPr dirty="0"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946" y="258618"/>
            <a:ext cx="6464156" cy="63176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1673" y="2697981"/>
            <a:ext cx="495069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Average temperature shows essentially no correlation with yield (r = 0.01) across the dataset.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Yield outcomes are scattered evenly across the observed temperature range.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This indicates that, within the range of temperatures recorded, crop and irrigation choices matter more than temperature variation.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Temperature should be monitored for extremes, but is not a standalone driver of yield here.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8478" y="1702844"/>
            <a:ext cx="422282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Temperature vs Crop Yield</a:t>
            </a:r>
            <a:endParaRPr lang="en-IN" sz="25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605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509" y="400415"/>
            <a:ext cx="6555941" cy="617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5957" y="1608371"/>
            <a:ext cx="405675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Water Used vs Crop Yield</a:t>
            </a:r>
            <a:endParaRPr lang="en-IN" sz="2500" dirty="0">
              <a:effectLst/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9454" y="2604263"/>
            <a:ext cx="473825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shows a moderate positive correlation with yield (r = 0.39) — the strongest environmental relationship in the study.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efficiency correlates even more strongly with yield, confirming that how water is used matters more than how much.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uses the most water on average (13,898 m³) but also converts it into the highest water efficiency (30.48 t/1,000m³).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irrigation practices is one of the most actionable levers for raising yield.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29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855" y="370589"/>
            <a:ext cx="6714835" cy="61341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9460" y="1369844"/>
            <a:ext cx="445032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Average Disease / Pest Risk by Crop</a:t>
            </a:r>
            <a:endParaRPr lang="en-IN" sz="2500" dirty="0">
              <a:effectLst/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9460" y="2326091"/>
            <a:ext cx="437643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Wheat carries the highest average disease/pest risk at 47.85%, closely followed by Pulses (46.57%) and Rice (46.50%).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Risk levels are high (mid-to-high 40% range) across almost every crop, indicating this is a dataset-wide challenge rather than a single-crop issue.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Notably, the highest-risk crops (Wheat, Rice, Pulses) are also among the least profitable, suggesting disease/pest pressure may be eroding margins.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 err="1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Chilli</a:t>
            </a: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 combines a comparable risk level (46.06%) with the highest profit, showing risk alone doesn't determine outcomes — management and pricing matter too.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933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854" y="256685"/>
            <a:ext cx="6593465" cy="63117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8561" y="1369844"/>
            <a:ext cx="289213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00"/>
              </a:lnSpc>
            </a:pPr>
            <a:r>
              <a:rPr lang="en-US" sz="2500" b="1" kern="1200" dirty="0">
                <a:solidFill>
                  <a:srgbClr val="1F2E1F"/>
                </a:solidFill>
                <a:latin typeface="+mj-lt"/>
                <a:ea typeface="Cambria" panose="02040503050406030204" pitchFamily="18" charset="0"/>
                <a:cs typeface="Cambria" panose="02040503050406030204" pitchFamily="18" charset="0"/>
              </a:rPr>
              <a:t>Revenue vs Profit</a:t>
            </a:r>
            <a:endParaRPr lang="en-IN" sz="2500" dirty="0">
              <a:effectLst/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8561" y="2220275"/>
            <a:ext cx="4188166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Revenue and profit are strongly positively correlated (r = 0.89), the strongest relationship in the entire dataset.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Most farms cluster in the lower revenue range, with a wide spread of outcomes from meaningful profit to loss.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A distinct minority of high-revenue farms achieve outsized profit, consistent with the top-10 profitable-farm list dominated by </a:t>
            </a:r>
            <a:r>
              <a:rPr lang="en-US" dirty="0" err="1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Chilli</a:t>
            </a: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 and Sugarcane.</a:t>
            </a:r>
            <a:endParaRPr lang="en-US" dirty="0">
              <a:latin typeface="+mj-lt"/>
            </a:endParaRP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F2E1F"/>
                </a:solidFill>
                <a:latin typeface="+mj-lt"/>
                <a:ea typeface="Calibri" pitchFamily="34" charset="-122"/>
                <a:cs typeface="Calibri" pitchFamily="34" charset="-120"/>
              </a:rPr>
              <a:t>49.2% of farms (1,966 of 4,000) operate at a net loss, totaling ₹42.4 Cr — underscoring uneven performance beneath a positive aggregate profit.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807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731376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 txBox="1">
            <a:spLocks noGrp="1"/>
          </p:cNvSpPr>
          <p:nvPr>
            <p:ph type="title"/>
          </p:nvPr>
        </p:nvSpPr>
        <p:spPr>
          <a:xfrm>
            <a:off x="506601" y="259750"/>
            <a:ext cx="4735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 dirty="0"/>
              <a:t>Future scope</a:t>
            </a:r>
            <a:endParaRPr dirty="0"/>
          </a:p>
        </p:txBody>
      </p:sp>
      <p:sp>
        <p:nvSpPr>
          <p:cNvPr id="327" name="Google Shape;327;p33"/>
          <p:cNvSpPr txBox="1"/>
          <p:nvPr/>
        </p:nvSpPr>
        <p:spPr>
          <a:xfrm>
            <a:off x="376401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4401113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074" y="1196012"/>
            <a:ext cx="804487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Predictive Modeling: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Apply machine learning (regression/classification) to predict crop yield, profit, or disease/pest risk based on environmental and resource inputs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Risk Alerts: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Develop an early-warning system for disease/pest outbreaks and water-scarcity conditions using the risk and efficiency patterns identified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Price Forecasting: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Integrate market price prediction to help farmers time their sales for maximum profit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Recommendation System: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Build a crop and irrigation recommendation engine tailored to a farmer's specific state, soil type, and season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4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4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4735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/>
              <a:t>GitHub Link</a:t>
            </a:r>
            <a:endParaRPr/>
          </a:p>
        </p:txBody>
      </p:sp>
      <p:sp>
        <p:nvSpPr>
          <p:cNvPr id="335" name="Google Shape;335;p34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47303" y="3066794"/>
            <a:ext cx="983720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000" dirty="0">
                <a:hlinkClick r:id="rId4"/>
              </a:rPr>
              <a:t>https://github.com/NavinchandSahu/Seasonal_Agriculture_Performance_Analysis.git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5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5"/>
          <p:cNvSpPr txBox="1">
            <a:spLocks noGrp="1"/>
          </p:cNvSpPr>
          <p:nvPr>
            <p:ph type="title"/>
          </p:nvPr>
        </p:nvSpPr>
        <p:spPr>
          <a:xfrm>
            <a:off x="675957" y="370589"/>
            <a:ext cx="83514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sz="3200"/>
              <a:t>VOIS Course completion certificate - </a:t>
            </a:r>
            <a:br>
              <a:rPr lang="en-US" sz="3200"/>
            </a:br>
            <a:r>
              <a:rPr lang="en-US" sz="3200"/>
              <a:t>Course name- Data Visualization </a:t>
            </a:r>
            <a:endParaRPr/>
          </a:p>
        </p:txBody>
      </p:sp>
      <p:sp>
        <p:nvSpPr>
          <p:cNvPr id="344" name="Google Shape;344;p35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5" name="Google Shape;345;p35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26" y="1659718"/>
            <a:ext cx="7788473" cy="509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>
            <a:spLocks noGrp="1"/>
          </p:cNvSpPr>
          <p:nvPr>
            <p:ph type="title"/>
          </p:nvPr>
        </p:nvSpPr>
        <p:spPr>
          <a:xfrm>
            <a:off x="-316492" y="3149646"/>
            <a:ext cx="113400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sz="9600" b="1" dirty="0">
                <a:solidFill>
                  <a:schemeClr val="dk1"/>
                </a:solidFill>
              </a:rPr>
              <a:t>Thank you</a:t>
            </a:r>
            <a:endParaRPr sz="9600" dirty="0"/>
          </a:p>
        </p:txBody>
      </p:sp>
      <p:sp>
        <p:nvSpPr>
          <p:cNvPr id="351" name="Google Shape;351;p36"/>
          <p:cNvSpPr txBox="1">
            <a:spLocks noGrp="1"/>
          </p:cNvSpPr>
          <p:nvPr>
            <p:ph type="body" idx="8"/>
          </p:nvPr>
        </p:nvSpPr>
        <p:spPr>
          <a:xfrm>
            <a:off x="3727865" y="4641925"/>
            <a:ext cx="2139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352" name="Google Shape;352;p36"/>
          <p:cNvSpPr txBox="1"/>
          <p:nvPr/>
        </p:nvSpPr>
        <p:spPr>
          <a:xfrm>
            <a:off x="878337" y="4134780"/>
            <a:ext cx="25965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endParaRPr sz="2400" b="1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5353508" y="3962573"/>
            <a:ext cx="25965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endParaRPr sz="2200" b="1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7789163" y="3962572"/>
            <a:ext cx="25965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endParaRPr sz="2200" b="1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6096000" y="4641925"/>
            <a:ext cx="2139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8591363" y="4641925"/>
            <a:ext cx="2139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</p:txBody>
      </p:sp>
      <p:pic>
        <p:nvPicPr>
          <p:cNvPr id="357" name="Google Shape;357;p36"/>
          <p:cNvPicPr preferRelativeResize="0"/>
          <p:nvPr/>
        </p:nvPicPr>
        <p:blipFill rotWithShape="1">
          <a:blip r:embed="rId3">
            <a:alphaModFix/>
          </a:blip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1448</Words>
  <Application>Microsoft Office PowerPoint</Application>
  <PresentationFormat>Widescreen</PresentationFormat>
  <Paragraphs>106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Noto Sans Symbols</vt:lpstr>
      <vt:lpstr>Trebuchet MS</vt:lpstr>
      <vt:lpstr>Wingdings</vt:lpstr>
      <vt:lpstr>Facet</vt:lpstr>
      <vt:lpstr>Project Title –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-</dc:title>
  <dc:creator>Admin</dc:creator>
  <cp:lastModifiedBy>Admin</cp:lastModifiedBy>
  <cp:revision>12</cp:revision>
  <dcterms:modified xsi:type="dcterms:W3CDTF">2026-09-06T19:36:25Z</dcterms:modified>
</cp:coreProperties>
</file>